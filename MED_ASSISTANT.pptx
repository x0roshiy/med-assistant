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лексей Коренец" userId="7d9219ce02c1f680" providerId="LiveId" clId="{CC78A248-E5E6-4BCF-AD1A-E07FFEFB5AF6}"/>
    <pc:docChg chg="modSld">
      <pc:chgData name="Алексей Коренец" userId="7d9219ce02c1f680" providerId="LiveId" clId="{CC78A248-E5E6-4BCF-AD1A-E07FFEFB5AF6}" dt="2026-06-03T14:49:26.829" v="35" actId="20577"/>
      <pc:docMkLst>
        <pc:docMk/>
      </pc:docMkLst>
      <pc:sldChg chg="modSp mod">
        <pc:chgData name="Алексей Коренец" userId="7d9219ce02c1f680" providerId="LiveId" clId="{CC78A248-E5E6-4BCF-AD1A-E07FFEFB5AF6}" dt="2026-06-03T14:45:37.333" v="14" actId="20577"/>
        <pc:sldMkLst>
          <pc:docMk/>
          <pc:sldMk cId="0" sldId="256"/>
        </pc:sldMkLst>
        <pc:spChg chg="mod">
          <ac:chgData name="Алексей Коренец" userId="7d9219ce02c1f680" providerId="LiveId" clId="{CC78A248-E5E6-4BCF-AD1A-E07FFEFB5AF6}" dt="2026-06-03T14:45:37.333" v="14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Алексей Коренец" userId="7d9219ce02c1f680" providerId="LiveId" clId="{CC78A248-E5E6-4BCF-AD1A-E07FFEFB5AF6}" dt="2026-06-03T14:49:26.829" v="35" actId="20577"/>
        <pc:sldMkLst>
          <pc:docMk/>
          <pc:sldMk cId="0" sldId="269"/>
        </pc:sldMkLst>
        <pc:spChg chg="mod">
          <ac:chgData name="Алексей Коренец" userId="7d9219ce02c1f680" providerId="LiveId" clId="{CC78A248-E5E6-4BCF-AD1A-E07FFEFB5AF6}" dt="2026-06-03T14:49:26.829" v="35" actId="20577"/>
          <ac:spMkLst>
            <pc:docMk/>
            <pc:sldMk cId="0" sldId="269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5020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28090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97680"/>
            <a:ext cx="3108960" cy="3108960"/>
          </a:xfrm>
          <a:prstGeom prst="ellipse">
            <a:avLst/>
          </a:prstGeom>
          <a:solidFill>
            <a:srgbClr val="00A896">
              <a:alpha val="4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2743200" cy="2743200"/>
          </a:xfrm>
          <a:prstGeom prst="ellipse">
            <a:avLst/>
          </a:prstGeom>
          <a:solidFill>
            <a:srgbClr val="02C39A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325880"/>
            <a:ext cx="1371600" cy="1371600"/>
          </a:xfrm>
          <a:prstGeom prst="ellipse">
            <a:avLst/>
          </a:prstGeom>
          <a:solidFill>
            <a:srgbClr val="02C39A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6" name="Image 0" descr="icons/pills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618488"/>
            <a:ext cx="786384" cy="7863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 Assistant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41248" y="3794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медицинский ассистент для анализа лекарственных взаимодействий с дообученной языковой моделью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41248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препарата</a:t>
            </a: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500" dirty="0">
                <a:solidFill>
                  <a:srgbClr val="E8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состава и взаимодействий</a:t>
            </a: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500" dirty="0">
                <a:solidFill>
                  <a:srgbClr val="E8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объяснение от LLM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1248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i="1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Коренец Алексей</a:t>
            </a:r>
            <a:r>
              <a:rPr lang="en-US" sz="1300" i="1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РТУ МИРЭА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3" name="Image 0" descr="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132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Проблема и цель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49240" cy="4754880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554480"/>
            <a:ext cx="91440" cy="47548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21945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Языковые модели плохо хранят точные факты.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" y="3200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прямом вопросе о лекарствах LLM может: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37033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придумать несуществующее взаимодействие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пропустить реальный опасный конфликт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ошибиться в действующем веществе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68680" y="56235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ошибки в медицине — здоровье человека.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63640" y="1554480"/>
            <a:ext cx="5349240" cy="4754880"/>
          </a:xfrm>
          <a:prstGeom prst="rect">
            <a:avLst/>
          </a:prstGeom>
          <a:solidFill>
            <a:srgbClr val="05445E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554480"/>
            <a:ext cx="91440" cy="4754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583680" y="21945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Разделить «поиск фактов» и «объяснение»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583680" y="306324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— детерминированный код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ищет состав и взаимодействия в базах. Никаких догадок — только данные.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Объяснение — дообученная LLM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получает готовый отчёт и переводит его в понятную рекомендацию на русском.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3" name="Image 0" descr="icons/diagra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132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Алгоритм</a:t>
            </a:r>
            <a:r>
              <a:rPr lang="en-US" sz="27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700" b="1" dirty="0" err="1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работы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39496" y="2148840"/>
            <a:ext cx="2084832" cy="3017520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9496" y="2148840"/>
            <a:ext cx="2084832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Shape 5"/>
          <p:cNvSpPr/>
          <p:nvPr/>
        </p:nvSpPr>
        <p:spPr>
          <a:xfrm>
            <a:off x="1124712" y="25146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736" y="2706624"/>
            <a:ext cx="530352" cy="5303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9224" y="35661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Подготовка данных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76656" y="411480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 состава, индексы, связка веществ</a:t>
            </a:r>
            <a:endParaRPr lang="en-US" sz="1150" dirty="0"/>
          </a:p>
        </p:txBody>
      </p:sp>
      <p:pic>
        <p:nvPicPr>
          <p:cNvPr id="12" name="Image 2" descr="icons/arrow_seafo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040" y="3557016"/>
            <a:ext cx="201168" cy="20116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788920" y="2148840"/>
            <a:ext cx="2084832" cy="3017520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2788920" y="2148840"/>
            <a:ext cx="2084832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Shape 10"/>
          <p:cNvSpPr/>
          <p:nvPr/>
        </p:nvSpPr>
        <p:spPr>
          <a:xfrm>
            <a:off x="3374136" y="251460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3" descr="icons/camer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2706624"/>
            <a:ext cx="530352" cy="5303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898648" y="35661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Распознавание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2926080" y="411480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извлекает название с упаковки</a:t>
            </a:r>
            <a:endParaRPr lang="en-US" sz="1150" dirty="0"/>
          </a:p>
        </p:txBody>
      </p:sp>
      <p:pic>
        <p:nvPicPr>
          <p:cNvPr id="19" name="Image 4" descr="icons/arrow_seafo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464" y="3557016"/>
            <a:ext cx="201168" cy="20116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038344" y="2148840"/>
            <a:ext cx="2084832" cy="3017520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5038344" y="2148840"/>
            <a:ext cx="2084832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Shape 15"/>
          <p:cNvSpPr/>
          <p:nvPr/>
        </p:nvSpPr>
        <p:spPr>
          <a:xfrm>
            <a:off x="5623560" y="251460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5" descr="icons/searc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5584" y="2706624"/>
            <a:ext cx="530352" cy="53035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48072" y="35661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Поиск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5175504" y="411480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и конфликты в базах (pandas)</a:t>
            </a:r>
            <a:endParaRPr lang="en-US" sz="1150" dirty="0"/>
          </a:p>
        </p:txBody>
      </p:sp>
      <p:pic>
        <p:nvPicPr>
          <p:cNvPr id="26" name="Image 6" descr="icons/arrow_seafo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557016"/>
            <a:ext cx="201168" cy="201168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7287768" y="2148840"/>
            <a:ext cx="2084832" cy="3017520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7287768" y="2148840"/>
            <a:ext cx="2084832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9" name="Shape 20"/>
          <p:cNvSpPr/>
          <p:nvPr/>
        </p:nvSpPr>
        <p:spPr>
          <a:xfrm>
            <a:off x="7872984" y="251460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0" name="Image 7" descr="icons/brain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5008" y="2706624"/>
            <a:ext cx="530352" cy="53035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397496" y="35661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Дообученная LLM</a:t>
            </a:r>
            <a:endParaRPr lang="en-US" sz="1400" dirty="0"/>
          </a:p>
        </p:txBody>
      </p:sp>
      <p:sp>
        <p:nvSpPr>
          <p:cNvPr id="32" name="Text 22"/>
          <p:cNvSpPr/>
          <p:nvPr/>
        </p:nvSpPr>
        <p:spPr>
          <a:xfrm>
            <a:off x="7424928" y="411480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Объясняет найденные факты</a:t>
            </a:r>
            <a:endParaRPr lang="en-US" sz="1150" dirty="0"/>
          </a:p>
        </p:txBody>
      </p:sp>
      <p:pic>
        <p:nvPicPr>
          <p:cNvPr id="33" name="Image 8" descr="icons/arrow_seafo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4312" y="3557016"/>
            <a:ext cx="201168" cy="201168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9537192" y="2148840"/>
            <a:ext cx="2084832" cy="3017520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5" name="Shape 24"/>
          <p:cNvSpPr/>
          <p:nvPr/>
        </p:nvSpPr>
        <p:spPr>
          <a:xfrm>
            <a:off x="9537192" y="2148840"/>
            <a:ext cx="2084832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Shape 25"/>
          <p:cNvSpPr/>
          <p:nvPr/>
        </p:nvSpPr>
        <p:spPr>
          <a:xfrm>
            <a:off x="10122408" y="25146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7" name="Image 9" descr="icons/lis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14432" y="2706624"/>
            <a:ext cx="530352" cy="530352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9646920" y="35661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Рекомендации</a:t>
            </a:r>
            <a:endParaRPr lang="en-US" sz="1400" dirty="0"/>
          </a:p>
        </p:txBody>
      </p:sp>
      <p:sp>
        <p:nvSpPr>
          <p:cNvPr id="39" name="Text 27"/>
          <p:cNvSpPr/>
          <p:nvPr/>
        </p:nvSpPr>
        <p:spPr>
          <a:xfrm>
            <a:off x="9674352" y="411480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Перебор всех пар, советы</a:t>
            </a:r>
            <a:endParaRPr lang="en-US" sz="1150" dirty="0"/>
          </a:p>
        </p:txBody>
      </p:sp>
      <p:sp>
        <p:nvSpPr>
          <p:cNvPr id="40" name="Shape 28"/>
          <p:cNvSpPr/>
          <p:nvPr/>
        </p:nvSpPr>
        <p:spPr>
          <a:xfrm>
            <a:off x="539496" y="5577840"/>
            <a:ext cx="11082528" cy="777240"/>
          </a:xfrm>
          <a:prstGeom prst="rect">
            <a:avLst/>
          </a:prstGeom>
          <a:solidFill>
            <a:srgbClr val="05445E"/>
          </a:solidFill>
          <a:ln/>
        </p:spPr>
      </p:sp>
      <p:pic>
        <p:nvPicPr>
          <p:cNvPr id="41" name="Image 10" descr="icons/shield_mi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536" y="5779008"/>
            <a:ext cx="365760" cy="36576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1408176" y="5577840"/>
            <a:ext cx="9893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принцип: </a:t>
            </a:r>
            <a:r>
              <a:rPr lang="en-US" sz="1350" dirty="0">
                <a:solidFill>
                  <a:srgbClr val="E8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ведёт детерминированный код, LLM лишь объясняет результат — это исключает галлюцинации.</a:t>
            </a:r>
            <a:endParaRPr lang="en-US" sz="1350" dirty="0"/>
          </a:p>
        </p:txBody>
      </p:sp>
      <p:sp>
        <p:nvSpPr>
          <p:cNvPr id="43" name="Text 30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3" name="Image 0" descr="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132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Данные и предобработка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120640" cy="2103120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78308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источника данных: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≈11 800 препаратов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состав, применение, побочные эффекты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≈191 000 пар взаимодействий</a:t>
            </a:r>
            <a:endParaRPr lang="en-US" sz="1400" dirty="0"/>
          </a:p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проверенные конфликты веществ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Этапы: очистка дозировок regex'ом · one-hot категорий · нечёткая связка веществ между базами (</a:t>
            </a:r>
            <a:r>
              <a:rPr lang="en-US" sz="135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</a:t>
            </a: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350" dirty="0">
              <a:solidFill>
                <a:srgbClr val="1A2E3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ru-RU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ПРИМЕРЫ/КАРТИНКИ КРАТКИЕ ИСТОЧНИКОВ? НЕОБРАБОТАННЫХ-ОБРАБОТАННЫХ</a:t>
            </a:r>
            <a:endParaRPr lang="en-US" sz="1350" b="1" dirty="0"/>
          </a:p>
        </p:txBody>
      </p:sp>
      <p:sp>
        <p:nvSpPr>
          <p:cNvPr id="9" name="Text 6"/>
          <p:cNvSpPr/>
          <p:nvPr/>
        </p:nvSpPr>
        <p:spPr>
          <a:xfrm>
            <a:off x="59436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ФРАГМЕНТ: ОЧИСТКА СОСТАВА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1965960"/>
            <a:ext cx="5669280" cy="4023360"/>
          </a:xfrm>
          <a:prstGeom prst="rect">
            <a:avLst/>
          </a:prstGeom>
          <a:solidFill>
            <a:srgbClr val="0B2733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72200" y="2130552"/>
            <a:ext cx="521208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F8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вход из CSV:
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"Amoxycillin (500mg) +
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Clavulanic Acid (125mg)"
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clean(comp):
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parts = comp.split('+')
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
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re.sub(r'\s*\(.*?\)','',p)
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.strip() for p in parts]
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F8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выход: ["Amoxycillin",
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F8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"Clavulanic Acid"]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3" name="Image 0" descr="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 2–3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132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Распознавание и поиск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394960" cy="2240280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82880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icons/camera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75104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8288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OCR (EasyOCR)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4400" y="25603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распознаёт текст (англ. + рус.)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эвристика выделяет название среди всего текста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готовит фото (EXIF, форматы)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977640"/>
            <a:ext cx="5394960" cy="2240280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77240" y="42062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52544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2062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Поисковое ядро (pandas)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914400" y="49377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перебор всех пар веществ (мульти-поиск)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конфликты внутри комбинированного препарата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детерминированно — без участия LLM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12648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ФРАГМЕНТ: ПОИСК ВСЕХ ПАР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26480" y="1965960"/>
            <a:ext cx="5486400" cy="4251960"/>
          </a:xfrm>
          <a:prstGeom prst="rect">
            <a:avLst/>
          </a:prstGeom>
          <a:solidFill>
            <a:srgbClr val="0B2733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355080" y="2130552"/>
            <a:ext cx="5029200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8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все пары веществ из всех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8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препаратов проверяем в базе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a, b in combinations(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substances, 2):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 = (a.lower(),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b.lower())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 = index.get(key)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desc: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conflicts.append(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(a, b, desc))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3" name="Image 0" descr="icons/brain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4 — ИНТЕГРАЦИЯ С LLM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составляется промпт для модели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ПРОМПТА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901952"/>
            <a:ext cx="5029200" cy="960120"/>
          </a:xfrm>
          <a:prstGeom prst="rect">
            <a:avLst/>
          </a:prstGeom>
          <a:solidFill>
            <a:srgbClr val="04334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901952"/>
            <a:ext cx="73152" cy="9601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011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prompt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+ строгие правила: не выдумывать, отвечать по-русски, не назначать дозировки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026664"/>
            <a:ext cx="5029200" cy="960120"/>
          </a:xfrm>
          <a:prstGeom prst="rect">
            <a:avLst/>
          </a:prstGeom>
          <a:solidFill>
            <a:srgbClr val="043344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3026664"/>
            <a:ext cx="73152" cy="9601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1363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Технический отчёт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77240" y="3456432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Препарат, состав, конфликты, побочки — всё из баз данных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4151376"/>
            <a:ext cx="5029200" cy="960120"/>
          </a:xfrm>
          <a:prstGeom prst="rect">
            <a:avLst/>
          </a:prstGeom>
          <a:solidFill>
            <a:srgbClr val="043344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4151376"/>
            <a:ext cx="73152" cy="9601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2611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Запрос пользователя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77240" y="458114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«Можно ли принимать вместе?»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5276088"/>
            <a:ext cx="5029200" cy="960120"/>
          </a:xfrm>
          <a:prstGeom prst="rect">
            <a:avLst/>
          </a:prstGeom>
          <a:solidFill>
            <a:srgbClr val="043344"/>
          </a:solidFill>
          <a:ln/>
        </p:spPr>
      </p:sp>
      <p:sp>
        <p:nvSpPr>
          <p:cNvPr id="20" name="Shape 17"/>
          <p:cNvSpPr/>
          <p:nvPr/>
        </p:nvSpPr>
        <p:spPr>
          <a:xfrm>
            <a:off x="548640" y="5276088"/>
            <a:ext cx="73152" cy="9601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3858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Формат ответа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77240" y="5705856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блоков: описание → побочки → взаимодействия → совет → дисклеймер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852160" y="1572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(упрощённо)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852160" y="1901952"/>
            <a:ext cx="5760720" cy="4617720"/>
          </a:xfrm>
          <a:prstGeom prst="rect">
            <a:avLst/>
          </a:prstGeom>
          <a:solidFill>
            <a:srgbClr val="0B2733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080760" y="2066544"/>
            <a:ext cx="5303520" cy="428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F8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System
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Ты — медицинский ассистент.
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Используй ТОЛЬКО данные ниже.
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ОТВЕЧАЙ ПО-РУССКИ.
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F8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Данные из баз
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Препарат: </a:t>
            </a:r>
            <a:r>
              <a:rPr lang="en-US" sz="11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Augmentin 625
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Вещества: </a:t>
            </a:r>
            <a:r>
              <a:rPr lang="en-US" sz="11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Amoxicillin, Clavulanic acid
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Конфликт: </a:t>
            </a:r>
            <a:r>
              <a:rPr lang="en-US" sz="11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Amoxicillin + Probenecid
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F8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Запрос
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«Можно ли принимать вместе?»
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F8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Задание
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Объясни риски и дай совет.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3" name="Image 0" descr="icons/balan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ОБОСНОВАНИЕ ВЫБОРА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132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LLM, а не обычная LM?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297680" y="1645920"/>
            <a:ext cx="3383280" cy="457200"/>
          </a:xfrm>
          <a:prstGeom prst="rect">
            <a:avLst/>
          </a:prstGeom>
          <a:solidFill>
            <a:srgbClr val="5A7A82"/>
          </a:solidFill>
          <a:ln/>
        </p:spPr>
      </p:sp>
      <p:sp>
        <p:nvSpPr>
          <p:cNvPr id="8" name="Text 5"/>
          <p:cNvSpPr/>
          <p:nvPr/>
        </p:nvSpPr>
        <p:spPr>
          <a:xfrm>
            <a:off x="4297680" y="1645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Обычная LM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0" y="1645920"/>
            <a:ext cx="384048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(наш выбор)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194560"/>
            <a:ext cx="11064240" cy="658368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1945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Понимание контекста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297680" y="21945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пределах фразы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0" y="21945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связывает весь отчёт целиком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2926080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9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292608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 + медтермины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297680" y="29260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учить с нуля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772400" y="29260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знает «из коробки»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3657600"/>
            <a:ext cx="11064240" cy="658368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365760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Следование инструкциям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297680" y="36576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772400" y="365760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 (instruction-tuned)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4389120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9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38912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Объяснение простым языком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297680" y="43891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шаблонно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772400" y="43891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гибко, по ситуации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5257800"/>
            <a:ext cx="11064240" cy="1005840"/>
          </a:xfrm>
          <a:prstGeom prst="rect">
            <a:avLst/>
          </a:prstGeom>
          <a:solidFill>
            <a:srgbClr val="05445E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28" name="Image 1" descr="icons/brain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532120"/>
            <a:ext cx="457200" cy="4572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417320" y="525780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</a:t>
            </a:r>
            <a:r>
              <a:rPr lang="en-US" sz="1350" dirty="0">
                <a:solidFill>
                  <a:srgbClr val="E8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— не предсказание следующего слова, а понимание структуры отчёта и генерация связного объяснения. Это под силу только LLM. А поиск фактов мы всё равно отдаём коду, чтобы LLM не галлюцинировала.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3" name="Image 0" descr="icons/microchi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132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Архитектура LLM: поток данных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3200400" cy="2651760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2286000"/>
            <a:ext cx="320040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ВХОД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9718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Системный промпт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Технический отчёт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(факты из Python)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пользователя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(промпт)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80560" y="2286000"/>
            <a:ext cx="3200400" cy="2651760"/>
          </a:xfrm>
          <a:prstGeom prst="rect">
            <a:avLst/>
          </a:prstGeom>
          <a:solidFill>
            <a:srgbClr val="05445E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0560" y="2286000"/>
            <a:ext cx="32004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4480560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Qwen 2.5 + LoRA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0" y="29260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Токенизация</a:t>
            </a:r>
            <a:endParaRPr lang="en-US" sz="1250" dirty="0"/>
          </a:p>
          <a:p>
            <a:pPr marL="0" indent="0"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50" dirty="0"/>
          </a:p>
          <a:p>
            <a:pPr marL="0" indent="0"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E8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Трансформер</a:t>
            </a:r>
            <a:endParaRPr lang="en-US" sz="1250" dirty="0"/>
          </a:p>
          <a:p>
            <a:pPr marL="0" indent="0"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E8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(слои внимания)</a:t>
            </a:r>
            <a:endParaRPr lang="en-US" sz="1250" dirty="0"/>
          </a:p>
          <a:p>
            <a:pPr marL="0" indent="0"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LoRA-адаптеры</a:t>
            </a:r>
            <a:endParaRPr lang="en-US" sz="1250" dirty="0"/>
          </a:p>
          <a:p>
            <a:pPr marL="0" indent="0"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50" dirty="0"/>
          </a:p>
          <a:p>
            <a:pPr marL="0" indent="0"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Декодирование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480560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дообученные веса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412480" y="2286000"/>
            <a:ext cx="3200400" cy="2651760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412480" y="2286000"/>
            <a:ext cx="320040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8412480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ВЫХОД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595360" y="2944368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 на русском: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препарата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побочные эффекты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взаимодействия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 + дисклеймер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412480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ответа</a:t>
            </a:r>
            <a:endParaRPr lang="en-US" sz="1100" dirty="0"/>
          </a:p>
        </p:txBody>
      </p:sp>
      <p:pic>
        <p:nvPicPr>
          <p:cNvPr id="21" name="Image 1" descr="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3447288"/>
            <a:ext cx="457200" cy="457200"/>
          </a:xfrm>
          <a:prstGeom prst="rect">
            <a:avLst/>
          </a:prstGeom>
        </p:spPr>
      </p:pic>
      <p:pic>
        <p:nvPicPr>
          <p:cNvPr id="22" name="Image 2" descr="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447288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получает не сырой вопрос, а структурированный отчёт с проверенными фактами — и превращает его в связный текст.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3" name="Image 0" descr="icons/gr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132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Дообучение модели (QLoRA)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вызов LLM по промпту — недостаточно. Дообучение закрепляет формат ответа, русский язык и тон под конкретную задачу.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33756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пар «отчёт → эталонный ответ», сгенерированных из баз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QLoRA: 4-битная база + обучаемые адаптеры (~0.5% параметров)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на одной GPU (Google Colab, T4)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5440680"/>
            <a:ext cx="5212080" cy="868680"/>
          </a:xfrm>
          <a:prstGeom prst="rect">
            <a:avLst/>
          </a:prstGeom>
          <a:solidFill>
            <a:srgbClr val="E8F6F5"/>
          </a:solidFill>
          <a:ln w="12700">
            <a:solidFill>
              <a:srgbClr val="D4E9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54406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</a:t>
            </a: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позволяет дообучить большую модель на 8 ГБ видеопамяти — полный fine-tuning потребовал бы 60+ ГБ.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8932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ФРАГМЕНТ: КОНФИГУРАЦИЯ LoRA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89320" y="1965960"/>
            <a:ext cx="5623560" cy="4343400"/>
          </a:xfrm>
          <a:prstGeom prst="rect">
            <a:avLst/>
          </a:prstGeom>
          <a:solidFill>
            <a:srgbClr val="0B2733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17920" y="2130552"/>
            <a:ext cx="516636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lora_config = LoraConfig(
</a:t>
            </a:r>
            <a:endParaRPr lang="en-US" sz="11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r=16,
</a:t>
            </a:r>
            <a:endParaRPr lang="en-US" sz="11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lora_alpha=32,
</a:t>
            </a:r>
            <a:endParaRPr lang="en-US" sz="11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lora_dropout=0.05,
</a:t>
            </a:r>
            <a:endParaRPr lang="en-US" sz="11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task_type=</a:t>
            </a:r>
            <a:r>
              <a:rPr lang="en-US" sz="115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"CAUSAL_LM",
</a:t>
            </a:r>
            <a:endParaRPr lang="en-US" sz="11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target_modules=[
</a:t>
            </a:r>
            <a:endParaRPr lang="en-US" sz="11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"q_proj","k_proj",
</a:t>
            </a:r>
            <a:endParaRPr lang="en-US" sz="11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"v_proj","o_proj"],
</a:t>
            </a:r>
            <a:endParaRPr lang="en-US" sz="11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1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get_peft_model(
</a:t>
            </a:r>
            <a:endParaRPr lang="en-US" sz="11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E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model, lora_config)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3" name="Image 0" descr="icons/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ДООБУЧЕНИЯ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132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Кривая обучения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943600" cy="3657600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9659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по эпохам (снижается → модель учится)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463040" y="2560320"/>
            <a:ext cx="1097280" cy="2377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132588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0.215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25880" y="5029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Эпоха 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0" y="3588701"/>
            <a:ext cx="1097280" cy="1349059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3063240" y="3268661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0.122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063240" y="5029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Эпоха 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937760" y="3997842"/>
            <a:ext cx="1097280" cy="93991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4800600" y="367780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0.085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00600" y="5029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Эпоха 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6656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ПОКАЗАТЕЛИ ПО ЭПОХАМ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766560" y="2194560"/>
            <a:ext cx="4846320" cy="457200"/>
          </a:xfrm>
          <a:prstGeom prst="rect">
            <a:avLst/>
          </a:prstGeom>
          <a:solidFill>
            <a:srgbClr val="05445E"/>
          </a:solidFill>
          <a:ln/>
        </p:spPr>
      </p:sp>
      <p:sp>
        <p:nvSpPr>
          <p:cNvPr id="19" name="Text 16"/>
          <p:cNvSpPr/>
          <p:nvPr/>
        </p:nvSpPr>
        <p:spPr>
          <a:xfrm>
            <a:off x="676656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Эпоха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68096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96112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24128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766560" y="2651760"/>
            <a:ext cx="4846320" cy="594360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66560" y="26517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680960" y="26517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0.215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961120" y="26517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0.198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0241280" y="26517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95.5%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766560" y="3319272"/>
            <a:ext cx="4846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9E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66560" y="331927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680960" y="331927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0.122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961120" y="331927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0.137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241280" y="331927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97.0%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766560" y="3986784"/>
            <a:ext cx="4846320" cy="594360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66560" y="3986784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680960" y="3986784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0.085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961120" y="3986784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0.132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0241280" y="398678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97.3%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766560" y="4846320"/>
            <a:ext cx="4846320" cy="1371600"/>
          </a:xfrm>
          <a:prstGeom prst="rect">
            <a:avLst/>
          </a:prstGeom>
          <a:solidFill>
            <a:srgbClr val="E8F6F5"/>
          </a:solidFill>
          <a:ln w="12700">
            <a:solidFill>
              <a:srgbClr val="D4E9E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949440" y="49834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упал в 2.5 раза 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(0.215 → 0.085), а валидационный loss продолжил снижаться — значит модель училась без переобучения.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3" name="Image 0" descr="icons/chartb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— СРАВНЕНИЕ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132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Метрики: база vs дообученная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фактов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3657600" y="1856232"/>
            <a:ext cx="4882896" cy="292608"/>
          </a:xfrm>
          <a:prstGeom prst="rect">
            <a:avLst/>
          </a:prstGeom>
          <a:solidFill>
            <a:srgbClr val="5A7A82"/>
          </a:solidFill>
          <a:ln/>
        </p:spPr>
      </p:sp>
      <p:sp>
        <p:nvSpPr>
          <p:cNvPr id="8" name="Text 5"/>
          <p:cNvSpPr/>
          <p:nvPr/>
        </p:nvSpPr>
        <p:spPr>
          <a:xfrm>
            <a:off x="8631936" y="18562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0" y="2221992"/>
            <a:ext cx="548640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9235440" y="22219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788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русского языка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657600" y="2862072"/>
            <a:ext cx="4279392" cy="292608"/>
          </a:xfrm>
          <a:prstGeom prst="rect">
            <a:avLst/>
          </a:prstGeom>
          <a:solidFill>
            <a:srgbClr val="5A7A82"/>
          </a:solidFill>
          <a:ln/>
        </p:spPr>
      </p:sp>
      <p:sp>
        <p:nvSpPr>
          <p:cNvPr id="13" name="Text 10"/>
          <p:cNvSpPr/>
          <p:nvPr/>
        </p:nvSpPr>
        <p:spPr>
          <a:xfrm>
            <a:off x="8028432" y="286207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0" y="3227832"/>
            <a:ext cx="4498848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8247888" y="32278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3794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Соблюдение структуры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3657600" y="3867912"/>
            <a:ext cx="3675888" cy="292608"/>
          </a:xfrm>
          <a:prstGeom prst="rect">
            <a:avLst/>
          </a:prstGeom>
          <a:solidFill>
            <a:srgbClr val="5A7A82"/>
          </a:solidFill>
          <a:ln/>
        </p:spPr>
      </p:sp>
      <p:sp>
        <p:nvSpPr>
          <p:cNvPr id="18" name="Text 15"/>
          <p:cNvSpPr/>
          <p:nvPr/>
        </p:nvSpPr>
        <p:spPr>
          <a:xfrm>
            <a:off x="7424928" y="38679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57600" y="4233672"/>
            <a:ext cx="4882896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7"/>
          <p:cNvSpPr/>
          <p:nvPr/>
        </p:nvSpPr>
        <p:spPr>
          <a:xfrm>
            <a:off x="8631936" y="423367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4800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Наличие дисклеймера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3657600" y="4873752"/>
            <a:ext cx="3456432" cy="292608"/>
          </a:xfrm>
          <a:prstGeom prst="rect">
            <a:avLst/>
          </a:prstGeom>
          <a:solidFill>
            <a:srgbClr val="5A7A82"/>
          </a:solidFill>
          <a:ln/>
        </p:spPr>
      </p:sp>
      <p:sp>
        <p:nvSpPr>
          <p:cNvPr id="23" name="Text 20"/>
          <p:cNvSpPr/>
          <p:nvPr/>
        </p:nvSpPr>
        <p:spPr>
          <a:xfrm>
            <a:off x="7205472" y="48737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57600" y="5239512"/>
            <a:ext cx="548640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2"/>
          <p:cNvSpPr/>
          <p:nvPr/>
        </p:nvSpPr>
        <p:spPr>
          <a:xfrm>
            <a:off x="9235440" y="52395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57600" y="5897880"/>
            <a:ext cx="274320" cy="201168"/>
          </a:xfrm>
          <a:prstGeom prst="rect">
            <a:avLst/>
          </a:prstGeom>
          <a:solidFill>
            <a:srgbClr val="5A7A82"/>
          </a:solidFill>
          <a:ln/>
        </p:spPr>
      </p:sp>
      <p:sp>
        <p:nvSpPr>
          <p:cNvPr id="27" name="Text 24"/>
          <p:cNvSpPr/>
          <p:nvPr/>
        </p:nvSpPr>
        <p:spPr>
          <a:xfrm>
            <a:off x="4023360" y="5852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модель (промпт)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315200" y="5897880"/>
            <a:ext cx="274320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6"/>
          <p:cNvSpPr/>
          <p:nvPr/>
        </p:nvSpPr>
        <p:spPr>
          <a:xfrm>
            <a:off x="7680960" y="5852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Дообученная модель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— оценочные показатели модели без дообучения; дообученная — измерено на 40 примерах валидации.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3" name="Image 0" descr="icons/pla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132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Приложение в работе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C504EA8-0AE8-7F1D-20A5-A141F95C4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" y="1261872"/>
            <a:ext cx="11978640" cy="53628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3" name="Image 0" descr="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132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Технологический стек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80060" y="1783080"/>
            <a:ext cx="3520440" cy="1417320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4380" y="20802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icons/camera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2281428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6022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EasyOCR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76022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текста с упаковки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20540" y="1783080"/>
            <a:ext cx="3520440" cy="1417320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94860" y="20802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028" y="228142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0070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 + re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560070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данных и поиск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61020" y="1783080"/>
            <a:ext cx="3520440" cy="1417320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35340" y="20802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08" y="228142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44118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rapidfuzz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944118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Нечёткое сопоставление названий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80060" y="3474720"/>
            <a:ext cx="3520440" cy="1417320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54380" y="37719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4" descr="icons/gra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" y="3973068"/>
            <a:ext cx="420624" cy="4206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760220" y="3794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PEFT + QLoRA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1760220" y="4206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Дообучение языковой модели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320540" y="3474720"/>
            <a:ext cx="3520440" cy="1417320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94860" y="37719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5" descr="icons/brai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6028" y="3973068"/>
            <a:ext cx="420624" cy="42062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600700" y="3794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Qwen 2.5</a:t>
            </a:r>
            <a:endParaRPr lang="en-US" sz="1650" dirty="0"/>
          </a:p>
        </p:txBody>
      </p:sp>
      <p:sp>
        <p:nvSpPr>
          <p:cNvPr id="30" name="Text 22"/>
          <p:cNvSpPr/>
          <p:nvPr/>
        </p:nvSpPr>
        <p:spPr>
          <a:xfrm>
            <a:off x="5600700" y="4206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языковая модель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8161020" y="3474720"/>
            <a:ext cx="3520440" cy="1417320"/>
          </a:xfrm>
          <a:prstGeom prst="rect">
            <a:avLst/>
          </a:prstGeom>
          <a:solidFill>
            <a:srgbClr val="F4F8F8"/>
          </a:solidFill>
          <a:ln w="12700">
            <a:solidFill>
              <a:srgbClr val="D4E9E7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435340" y="37719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3" name="Image 6" descr="icons/serve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6508" y="3973068"/>
            <a:ext cx="420624" cy="42062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441180" y="3794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Gradio</a:t>
            </a:r>
            <a:endParaRPr lang="en-US" sz="1650" dirty="0"/>
          </a:p>
        </p:txBody>
      </p:sp>
      <p:sp>
        <p:nvSpPr>
          <p:cNvPr id="35" name="Text 26"/>
          <p:cNvSpPr/>
          <p:nvPr/>
        </p:nvSpPr>
        <p:spPr>
          <a:xfrm>
            <a:off x="9441180" y="4206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 приложения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480060" y="5212080"/>
            <a:ext cx="11201400" cy="1051560"/>
          </a:xfrm>
          <a:prstGeom prst="rect">
            <a:avLst/>
          </a:prstGeom>
          <a:solidFill>
            <a:srgbClr val="05445E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37" name="Image 7" descr="icons/check_mi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820" y="5550408"/>
            <a:ext cx="384048" cy="38404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440180" y="5212080"/>
            <a:ext cx="9921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Архитектурное решение:  </a:t>
            </a:r>
            <a:r>
              <a:rPr lang="en-US" sz="1350" dirty="0">
                <a:solidFill>
                  <a:srgbClr val="E8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фактов — детерминированным кодом, объяснение — дообученной LLM. Локальный запуск сохраняет приватность медицинских данных.</a:t>
            </a:r>
            <a:endParaRPr lang="en-US" sz="1500" dirty="0"/>
          </a:p>
        </p:txBody>
      </p:sp>
      <p:sp>
        <p:nvSpPr>
          <p:cNvPr id="39" name="Text 29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120640" cy="5120640"/>
          </a:xfrm>
          <a:prstGeom prst="ellipse">
            <a:avLst/>
          </a:prstGeom>
          <a:solidFill>
            <a:srgbClr val="02809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023360"/>
            <a:ext cx="3657600" cy="365760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РАБОТЫ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icons/search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5270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3533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Детерминированный поиск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45920" y="171907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и взаимодействия из баз — без галлюцинаций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23317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icons/grad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24871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23134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Дообучена модель (QLoRA)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45920" y="267919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0.215 → 0.085, точность токенов 97.3%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2" descr="icons/chartbar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344728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32735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Подтверждено метриками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45920" y="363931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+22 п.п., дисклеймер +37 п.п. к базовой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3" descr="icons/server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" y="440740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42336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Работающее приложение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45920" y="459943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 с выбором дообученной модели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6675120" y="5029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Спасибо за внимание</a:t>
            </a:r>
            <a:endParaRPr lang="en-US" sz="3000" dirty="0"/>
          </a:p>
        </p:txBody>
      </p:sp>
      <p:sp>
        <p:nvSpPr>
          <p:cNvPr id="22" name="Shape 16"/>
          <p:cNvSpPr/>
          <p:nvPr/>
        </p:nvSpPr>
        <p:spPr>
          <a:xfrm>
            <a:off x="10881360" y="5897880"/>
            <a:ext cx="9144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17"/>
          <p:cNvSpPr/>
          <p:nvPr/>
        </p:nvSpPr>
        <p:spPr>
          <a:xfrm>
            <a:off x="6675120" y="6035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300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Коренец Алексей</a:t>
            </a:r>
            <a:r>
              <a:rPr lang="en-US" sz="1300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РТУ МИРЭА ·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1177</Words>
  <Application>Microsoft Office PowerPoint</Application>
  <PresentationFormat>Широкоэкранный</PresentationFormat>
  <Paragraphs>262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 Assistant</dc:title>
  <dc:subject>PptxGenJS Presentation</dc:subject>
  <dc:creator>Соснин Артём</dc:creator>
  <cp:lastModifiedBy>Алексей Коренец</cp:lastModifiedBy>
  <cp:revision>3</cp:revision>
  <dcterms:created xsi:type="dcterms:W3CDTF">2026-06-03T14:41:25Z</dcterms:created>
  <dcterms:modified xsi:type="dcterms:W3CDTF">2026-06-04T11:39:14Z</dcterms:modified>
</cp:coreProperties>
</file>